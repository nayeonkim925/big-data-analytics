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Example-F1 0.3995(초기 분류기)→0.5488(최종). zero-shot 0.4623 대비 +8.7pt, 논문 NoST 0.5431 상회. 데이터=Amazon-531(train 29,487/test 19,658), 531 classes, 라벨 0개 설정.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개요. 성능 궤적(Test Example-F1): zero-shot 0.4623 → 초기 분류기 0.3995(-6.3pt, silver precision 30%) → 데이터 정제 0.4614(+6.2) → LLM 10K 0.5180(+5.7) → self-training+audit-val 0.5488(+3.1). 논문 NoST 0.5431 상회. 네 가지 판단: 라벨구조 검증(2^531→568경로), 지표 재정의(71%→30.3%), LLM 결정경계 집중(43→49%), validation 기반 stopping(+1.2→+3.1pt).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해결. 좌: 초기 품질지표 71%(문서당 정답≥1개)가, 라벨 단위 precision 30.3%(문서당 3.8개 중 2.7개 오답)를 은폐. 우: min_conf sweep의 precision-coverage 곡선에서 무릎점 0.15(precision 43%/coverage 79%) 선택. 로그: 가설1(학습설정) 기각→가설2(데이터)→원인(지표)→재실험(min_conf 0.15+512, +6.2pt).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기여 분석. ①데이터 정제 +6.2pt: silver precision(30→43→49%)과 Example-F1(0.40→0.46→0.52)의 동행. ②LLM 규모 +5.7pt: 1K(커버리지 3.2%)=0pt vs 10K(약31%)=+5.7pt, 임계 규모. ③validation stopping +3.1pt: 고정 800배치는 0.5002로 하락, val이 test와 같은 batch200에서 최고 → early stop 0.5488. 측정조건: audit-val은 train gold 3000 사용(순수 WS 최고치 0.5180 별도).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1880006"/>
            <a:ext cx="82552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60" kern="0" dirty="0">
                <a:solidFill>
                  <a:srgbClr val="2B4C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TAXOCLASS (NAACL 2021) 재현·확장 · AMAZON-531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0003" y="2234794"/>
            <a:ext cx="8255203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모델은 그대로,</a:t>
            </a:r>
            <a:endParaRPr lang="en-US" sz="5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데이터만 </a:t>
            </a:r>
            <a:pPr algn="l"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고쳤다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965606" y="3911803"/>
            <a:ext cx="1904695" cy="32004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5" name="Text 3"/>
          <p:cNvSpPr/>
          <p:nvPr/>
        </p:nvSpPr>
        <p:spPr>
          <a:xfrm>
            <a:off x="952805" y="4140403"/>
            <a:ext cx="8255203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 0개에서 531-클래스 계층 멀티라벨 분류기를 학습하고,</a:t>
            </a:r>
            <a:endParaRPr lang="en-US" sz="15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병목이 모델이 아니라 </a:t>
            </a:r>
            <a:pPr algn="l"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silver label 품질</a:t>
            </a:r>
            <a:pPr algn="l"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임을 실험으로 규명한 기록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2805" y="5117897"/>
            <a:ext cx="44448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Nayeon Kim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805" y="5410505"/>
            <a:ext cx="8889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Weakly-Supervised HMTC · Amazon-531 (train 29,487 / test 19,658) · 개인 100% · GitHub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0" y="1904695"/>
            <a:ext cx="58164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Example-F1 (test)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0" y="2146097"/>
            <a:ext cx="5816498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0.3995 </a:t>
            </a:r>
            <a:pPr algn="r" indent="0" marL="0">
              <a:buNone/>
            </a:pPr>
            <a:r>
              <a:rPr lang="en-US" sz="3000" b="1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pPr algn="r" indent="0" marL="0">
              <a:buNone/>
            </a:pPr>
            <a:r>
              <a:rPr lang="en-US" sz="30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0.5488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715000" y="2730398"/>
            <a:ext cx="58164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zero-shot 대비 +8.7pt · 초기 분류기 대비 +14.9pt</a:t>
            </a:r>
            <a:endParaRPr lang="en-US" sz="105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 TaxoClass-NoST(0.5431) 상회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02298"/>
            <a:ext cx="12191695" cy="355702"/>
          </a:xfrm>
          <a:prstGeom prst="rect">
            <a:avLst/>
          </a:prstGeom>
          <a:solidFill>
            <a:srgbClr val="2B4C7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381305"/>
            <a:ext cx="1028700" cy="330098"/>
          </a:xfrm>
          <a:prstGeom prst="rect">
            <a:avLst/>
          </a:prstGeom>
          <a:solidFill>
            <a:srgbClr val="1E756D"/>
          </a:solidFill>
          <a:ln/>
        </p:spPr>
      </p:sp>
      <p:sp>
        <p:nvSpPr>
          <p:cNvPr id="3" name="Text 1"/>
          <p:cNvSpPr/>
          <p:nvPr/>
        </p:nvSpPr>
        <p:spPr>
          <a:xfrm>
            <a:off x="660197" y="381305"/>
            <a:ext cx="10287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4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880006" y="545897"/>
            <a:ext cx="9652406" cy="0"/>
          </a:xfrm>
          <a:prstGeom prst="line">
            <a:avLst/>
          </a:prstGeom>
          <a:noFill/>
          <a:ln w="12700">
            <a:solidFill>
              <a:srgbClr val="E7E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0197" y="952805"/>
            <a:ext cx="10871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아니라 </a:t>
            </a:r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병목이었다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2998" y="1434694"/>
            <a:ext cx="1087130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 0개로 학습한 531-클래스 계층 분류기 — 다섯 지점의 가설·검증 기록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0197" y="1815998"/>
            <a:ext cx="10871302" cy="2870302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9A958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3194" y="1943100"/>
            <a:ext cx="101598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막대 = 하나의 가설을 검증한 결과 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Test Example-F1 · seed 고정</a:t>
            </a:r>
            <a:endParaRPr lang="en-US" sz="1150" dirty="0"/>
          </a:p>
        </p:txBody>
      </p:sp>
      <p:pic>
        <p:nvPicPr>
          <p:cNvPr id="9" name="Image 0" descr="chart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087" y="2184502"/>
            <a:ext cx="8968435" cy="2438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0197" y="4800600"/>
            <a:ext cx="44448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" kern="0" dirty="0">
                <a:solidFill>
                  <a:srgbClr val="1E756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성능을 바꾼 네 가지 판단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0197" y="5054803"/>
            <a:ext cx="2613355" cy="952805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43454" y="5156302"/>
            <a:ext cx="215798" cy="215798"/>
          </a:xfrm>
          <a:prstGeom prst="ellipse">
            <a:avLst/>
          </a:prstGeom>
          <a:solidFill>
            <a:srgbClr val="E7F0EE"/>
          </a:solidFill>
          <a:ln/>
        </p:spPr>
      </p:sp>
      <p:sp>
        <p:nvSpPr>
          <p:cNvPr id="13" name="Text 10"/>
          <p:cNvSpPr/>
          <p:nvPr/>
        </p:nvSpPr>
        <p:spPr>
          <a:xfrm>
            <a:off x="2943454" y="5156302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56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0100" y="5169103"/>
            <a:ext cx="216895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 구조부터 의심했다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0100" y="5397703"/>
            <a:ext cx="23591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공간 축소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0100" y="5639105"/>
            <a:ext cx="23591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2⁵³¹</a:t>
            </a:r>
            <a:pPr algn="l"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 </a:t>
            </a:r>
            <a:pPr algn="l" indent="0" marL="0">
              <a:buNone/>
            </a:pPr>
            <a:r>
              <a:rPr lang="en-US" sz="1550" b="1" dirty="0">
                <a:solidFill>
                  <a:srgbClr val="2B4C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568 경로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13455" y="5054803"/>
            <a:ext cx="2613355" cy="952805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95798" y="5156302"/>
            <a:ext cx="215798" cy="215798"/>
          </a:xfrm>
          <a:prstGeom prst="ellipse">
            <a:avLst/>
          </a:prstGeom>
          <a:solidFill>
            <a:srgbClr val="E7F0EE"/>
          </a:solidFill>
          <a:ln/>
        </p:spPr>
      </p:sp>
      <p:sp>
        <p:nvSpPr>
          <p:cNvPr id="19" name="Text 16"/>
          <p:cNvSpPr/>
          <p:nvPr/>
        </p:nvSpPr>
        <p:spPr>
          <a:xfrm>
            <a:off x="5695798" y="5156302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56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552444" y="5169103"/>
            <a:ext cx="216895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지표부터 다시 측정했다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552444" y="5397703"/>
            <a:ext cx="23591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문서→라벨 단위 precision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552444" y="5639105"/>
            <a:ext cx="23591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71%</a:t>
            </a:r>
            <a:pPr algn="l"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 </a:t>
            </a:r>
            <a:pPr algn="l" indent="0" marL="0">
              <a:buNone/>
            </a:pPr>
            <a:r>
              <a:rPr lang="en-US" sz="1550" b="1" dirty="0">
                <a:solidFill>
                  <a:srgbClr val="333A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30.3%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65799" y="5054803"/>
            <a:ext cx="2613355" cy="952805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49056" y="5156302"/>
            <a:ext cx="215798" cy="215798"/>
          </a:xfrm>
          <a:prstGeom prst="ellipse">
            <a:avLst/>
          </a:prstGeom>
          <a:solidFill>
            <a:srgbClr val="E7F0EE"/>
          </a:solidFill>
          <a:ln/>
        </p:spPr>
      </p:sp>
      <p:sp>
        <p:nvSpPr>
          <p:cNvPr id="25" name="Text 22"/>
          <p:cNvSpPr/>
          <p:nvPr/>
        </p:nvSpPr>
        <p:spPr>
          <a:xfrm>
            <a:off x="8449056" y="5156302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56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05702" y="5169103"/>
            <a:ext cx="216895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중요한 문서에만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305702" y="5397703"/>
            <a:ext cx="23591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경계 10K건 재검수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305702" y="5639105"/>
            <a:ext cx="23591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43%</a:t>
            </a:r>
            <a:pPr algn="l"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 </a:t>
            </a:r>
            <a:pPr algn="l" indent="0" marL="0">
              <a:buNone/>
            </a:pPr>
            <a:r>
              <a:rPr lang="en-US" sz="155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918143" y="5054803"/>
            <a:ext cx="2613355" cy="952805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201400" y="5156302"/>
            <a:ext cx="215798" cy="215798"/>
          </a:xfrm>
          <a:prstGeom prst="ellipse">
            <a:avLst/>
          </a:prstGeom>
          <a:solidFill>
            <a:srgbClr val="E7F0EE"/>
          </a:solidFill>
          <a:ln/>
        </p:spPr>
      </p:sp>
      <p:sp>
        <p:nvSpPr>
          <p:cNvPr id="31" name="Text 28"/>
          <p:cNvSpPr/>
          <p:nvPr/>
        </p:nvSpPr>
        <p:spPr>
          <a:xfrm>
            <a:off x="11201400" y="5156302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56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058046" y="5169103"/>
            <a:ext cx="216895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Validation으로 멈췄다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058046" y="5397703"/>
            <a:ext cx="23591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self-training stopping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058046" y="5639105"/>
            <a:ext cx="23591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+1.2pt</a:t>
            </a:r>
            <a:pPr algn="l"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 </a:t>
            </a:r>
            <a:pPr algn="l" indent="0" marL="0">
              <a:buNone/>
            </a:pPr>
            <a:r>
              <a:rPr lang="en-US" sz="155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+3.1pt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60197" y="6133795"/>
            <a:ext cx="101598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모델은 그대로. </a:t>
            </a:r>
            <a:pPr algn="l" indent="0" marL="0">
              <a:buNone/>
            </a:pPr>
            <a:r>
              <a:rPr lang="en-US" sz="12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데이터만 고쳤다</a:t>
            </a:r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위 다섯 지점이 그 기록이다.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48695" y="6324905"/>
            <a:ext cx="4572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381305"/>
            <a:ext cx="1606601" cy="330098"/>
          </a:xfrm>
          <a:prstGeom prst="rect">
            <a:avLst/>
          </a:prstGeom>
          <a:solidFill>
            <a:srgbClr val="1E756D"/>
          </a:solidFill>
          <a:ln/>
        </p:spPr>
      </p:sp>
      <p:sp>
        <p:nvSpPr>
          <p:cNvPr id="3" name="Text 1"/>
          <p:cNvSpPr/>
          <p:nvPr/>
        </p:nvSpPr>
        <p:spPr>
          <a:xfrm>
            <a:off x="660197" y="381305"/>
            <a:ext cx="1606601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4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SOLVING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457907" y="545897"/>
            <a:ext cx="9074506" cy="0"/>
          </a:xfrm>
          <a:prstGeom prst="line">
            <a:avLst/>
          </a:prstGeom>
          <a:noFill/>
          <a:ln w="12700">
            <a:solidFill>
              <a:srgbClr val="E7E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0197" y="952805"/>
            <a:ext cx="10871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 고른 품질 지표가 </a:t>
            </a:r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문제를 가리고</a:t>
            </a:r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있었다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2998" y="1434694"/>
            <a:ext cx="1087130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 → 실험 → 실패 → 원인 분석 → 재실험 — 병목을 데이터로 좁혀간 과정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0197" y="1790395"/>
            <a:ext cx="5892394" cy="252740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9A958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5703" y="1904695"/>
            <a:ext cx="558789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데이터, 평가 지표만 바꿨다</a:t>
            </a:r>
            <a:endParaRPr lang="en-US" sz="1150" dirty="0"/>
          </a:p>
        </p:txBody>
      </p:sp>
      <p:pic>
        <p:nvPicPr>
          <p:cNvPr id="9" name="Image 0" descr="charts/metric_rever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550" y="2146097"/>
            <a:ext cx="4361688" cy="210860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05295" y="1790395"/>
            <a:ext cx="4826203" cy="252740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9A958C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70802" y="1904695"/>
            <a:ext cx="45089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threshold는 감이 아니라 곡선으로 결정했다</a:t>
            </a:r>
            <a:endParaRPr lang="en-US" sz="1150" dirty="0"/>
          </a:p>
        </p:txBody>
      </p:sp>
      <p:pic>
        <p:nvPicPr>
          <p:cNvPr id="12" name="Image 1" descr="charts/prec_cover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2184502"/>
            <a:ext cx="3661258" cy="203179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60197" y="4546397"/>
            <a:ext cx="1940357" cy="952805"/>
          </a:xfrm>
          <a:prstGeom prst="roundRect">
            <a:avLst>
              <a:gd name="adj" fmla="val 6622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4497" y="4647895"/>
            <a:ext cx="1750162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333A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74497" y="4839005"/>
            <a:ext cx="173736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학습한 분류기 0.3995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74497" y="5143500"/>
            <a:ext cx="173736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 zero-shot 0.4623 — 학습이 성능을 깎았다</a:t>
            </a:r>
            <a:endParaRPr lang="en-US" sz="830" dirty="0"/>
          </a:p>
        </p:txBody>
      </p:sp>
      <p:sp>
        <p:nvSpPr>
          <p:cNvPr id="17" name="Text 13"/>
          <p:cNvSpPr/>
          <p:nvPr/>
        </p:nvSpPr>
        <p:spPr>
          <a:xfrm>
            <a:off x="2613355" y="4546397"/>
            <a:ext cx="291694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2893162" y="4546397"/>
            <a:ext cx="1940357" cy="952805"/>
          </a:xfrm>
          <a:prstGeom prst="roundRect">
            <a:avLst>
              <a:gd name="adj" fmla="val 6622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007462" y="4647895"/>
            <a:ext cx="1750162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 1 · 기각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007462" y="4839005"/>
            <a:ext cx="173736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설정 문제?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007462" y="5143500"/>
            <a:ext cx="173736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batch·seq len·decoder 통제 → 모두 1pt 미만</a:t>
            </a:r>
            <a:endParaRPr lang="en-US" sz="830" dirty="0"/>
          </a:p>
        </p:txBody>
      </p:sp>
      <p:sp>
        <p:nvSpPr>
          <p:cNvPr id="22" name="Text 18"/>
          <p:cNvSpPr/>
          <p:nvPr/>
        </p:nvSpPr>
        <p:spPr>
          <a:xfrm>
            <a:off x="4846320" y="4546397"/>
            <a:ext cx="291694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126126" y="4546397"/>
            <a:ext cx="1940357" cy="952805"/>
          </a:xfrm>
          <a:prstGeom prst="roundRect">
            <a:avLst>
              <a:gd name="adj" fmla="val 6622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40426" y="4647895"/>
            <a:ext cx="1750162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2B4C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 2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240426" y="4839005"/>
            <a:ext cx="173736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품질 문제?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240426" y="5143500"/>
            <a:ext cx="173736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재정의 → 라벨 단위 precision 30.3%</a:t>
            </a:r>
            <a:endParaRPr lang="en-US" sz="830" dirty="0"/>
          </a:p>
        </p:txBody>
      </p:sp>
      <p:sp>
        <p:nvSpPr>
          <p:cNvPr id="27" name="Text 23"/>
          <p:cNvSpPr/>
          <p:nvPr/>
        </p:nvSpPr>
        <p:spPr>
          <a:xfrm>
            <a:off x="7079285" y="4546397"/>
            <a:ext cx="291694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7358177" y="4546397"/>
            <a:ext cx="1940357" cy="952805"/>
          </a:xfrm>
          <a:prstGeom prst="roundRect">
            <a:avLst>
              <a:gd name="adj" fmla="val 6622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72477" y="4647895"/>
            <a:ext cx="1750162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333A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7472477" y="4839005"/>
            <a:ext cx="173736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지표가 가리고 있었다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472477" y="5143500"/>
            <a:ext cx="173736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단위 71%가 과잉 생성을 은폐</a:t>
            </a:r>
            <a:endParaRPr lang="en-US" sz="830" dirty="0"/>
          </a:p>
        </p:txBody>
      </p:sp>
      <p:sp>
        <p:nvSpPr>
          <p:cNvPr id="32" name="Text 28"/>
          <p:cNvSpPr/>
          <p:nvPr/>
        </p:nvSpPr>
        <p:spPr>
          <a:xfrm>
            <a:off x="9311335" y="4546397"/>
            <a:ext cx="291694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9591142" y="4546397"/>
            <a:ext cx="1940357" cy="952805"/>
          </a:xfrm>
          <a:prstGeom prst="roundRect">
            <a:avLst>
              <a:gd name="adj" fmla="val 6622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705442" y="4647895"/>
            <a:ext cx="1750162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재실험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9705442" y="4839005"/>
            <a:ext cx="173736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min_conf 0.15 + len 512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9705442" y="5143500"/>
            <a:ext cx="173736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silver 30→43% · Example-F1 +6.2pt</a:t>
            </a:r>
            <a:endParaRPr lang="en-US" sz="830" dirty="0"/>
          </a:p>
        </p:txBody>
      </p:sp>
      <p:sp>
        <p:nvSpPr>
          <p:cNvPr id="37" name="Text 33"/>
          <p:cNvSpPr/>
          <p:nvPr/>
        </p:nvSpPr>
        <p:spPr>
          <a:xfrm>
            <a:off x="660197" y="5715000"/>
            <a:ext cx="101598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지표를 다시 정의하는 순간, </a:t>
            </a:r>
            <a:pPr algn="l" indent="0" marL="0">
              <a:buNone/>
            </a:pPr>
            <a:r>
              <a:rPr lang="en-US" sz="12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보이지 않던 6pt 규모의 문제가 드러났다.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11048695" y="6324905"/>
            <a:ext cx="4572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381305"/>
            <a:ext cx="946404" cy="330098"/>
          </a:xfrm>
          <a:prstGeom prst="rect">
            <a:avLst/>
          </a:prstGeom>
          <a:solidFill>
            <a:srgbClr val="1E756D"/>
          </a:solidFill>
          <a:ln/>
        </p:spPr>
      </p:sp>
      <p:sp>
        <p:nvSpPr>
          <p:cNvPr id="3" name="Text 1"/>
          <p:cNvSpPr/>
          <p:nvPr/>
        </p:nvSpPr>
        <p:spPr>
          <a:xfrm>
            <a:off x="660197" y="381305"/>
            <a:ext cx="94640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4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796796" y="545897"/>
            <a:ext cx="9734702" cy="0"/>
          </a:xfrm>
          <a:prstGeom prst="line">
            <a:avLst/>
          </a:prstGeom>
          <a:noFill/>
          <a:ln w="12700">
            <a:solidFill>
              <a:srgbClr val="E7E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0197" y="952805"/>
            <a:ext cx="10871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0.3995 → 0.5488, </a:t>
            </a:r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개입의 기여분을 대조로 분리했다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2998" y="1434694"/>
            <a:ext cx="1087130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대조 = 해당 개입만 교체 · 나머지 조건·seed 고정 — Decision Log가 아니라 Contribution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0197" y="1841602"/>
            <a:ext cx="28831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귀속 ① 데이터 정제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04895" y="1815998"/>
            <a:ext cx="6099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+6.2pt</a:t>
            </a:r>
            <a:endParaRPr lang="en-US" sz="1500" dirty="0"/>
          </a:p>
        </p:txBody>
      </p:sp>
      <p:pic>
        <p:nvPicPr>
          <p:cNvPr id="9" name="Image 0" descr="charts/comov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260397"/>
            <a:ext cx="3083357" cy="15243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0197" y="3886200"/>
            <a:ext cx="3454603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silver precision과 F1이 동행 — 병목은 데이터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69003" y="1841602"/>
            <a:ext cx="28831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귀속 ② LLM 재검수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213702" y="1815998"/>
            <a:ext cx="6099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+5.7pt</a:t>
            </a:r>
            <a:endParaRPr lang="en-US" sz="1500" dirty="0"/>
          </a:p>
        </p:txBody>
      </p:sp>
      <p:pic>
        <p:nvPicPr>
          <p:cNvPr id="13" name="Image 1" descr="charts/llm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433" y="2260397"/>
            <a:ext cx="2521915" cy="15243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69003" y="3886200"/>
            <a:ext cx="3454603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1K은 0pt · 임계 규모 위에서만 효과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076895" y="1841602"/>
            <a:ext cx="28831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귀속 ③ validation stopping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0921594" y="1815998"/>
            <a:ext cx="6099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+3.1pt</a:t>
            </a:r>
            <a:endParaRPr lang="en-US" sz="1500" dirty="0"/>
          </a:p>
        </p:txBody>
      </p:sp>
      <p:pic>
        <p:nvPicPr>
          <p:cNvPr id="17" name="Image 2" descr="charts/st_trajec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2260397"/>
            <a:ext cx="3433572" cy="15243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76895" y="3886200"/>
            <a:ext cx="3454603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멈추는 기준이 이득의 절반을 갈랐다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60197" y="4483303"/>
            <a:ext cx="10871302" cy="1880006"/>
          </a:xfrm>
          <a:prstGeom prst="roundRect">
            <a:avLst>
              <a:gd name="adj" fmla="val 4718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3194" y="4623206"/>
            <a:ext cx="44448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756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조건 공개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63194" y="4902098"/>
            <a:ext cx="104771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최종 0.5488의 stopping 신호는 train gold 3,000개를 사용한다(학습 신호로는 미사용). 순수 weak-supervision 세팅 최고치는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0.5180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분리 보고.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63194" y="5296205"/>
            <a:ext cx="104771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test 피크 0.5492는 채택하지 않았다 — 결과를 본 뒤 고르면 test 튜닝이 되므로, validation 규칙이 정한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06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0.5488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보고.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63194" y="5689397"/>
            <a:ext cx="104771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참조(논문 보고치): </a:t>
            </a:r>
            <a:pPr algn="l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TaxoClass-NoST 0.5431</a:t>
            </a:r>
            <a:pPr algn="l" indent="0" marL="0">
              <a:buNone/>
            </a:pPr>
            <a:r>
              <a:rPr lang="en-US" sz="1050" dirty="0">
                <a:solidFill>
                  <a:srgbClr val="596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(상회) · full(완전지도) 0.5934 · Hier-0Shot-TC 0.4742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048695" y="6324905"/>
            <a:ext cx="4572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2026-07-21T01:31:02Z</dcterms:created>
  <dcterms:modified xsi:type="dcterms:W3CDTF">2026-07-21T01:31:02Z</dcterms:modified>
</cp:coreProperties>
</file>